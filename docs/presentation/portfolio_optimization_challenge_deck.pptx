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69d9cb91044352" /><Relationship Type="http://schemas.openxmlformats.org/officeDocument/2006/relationships/extended-properties" Target="/docProps/app.xml" Id="Rb019494c1f2f43a9" /><Relationship Type="http://schemas.openxmlformats.org/officeDocument/2006/relationships/officeDocument" Target="/ppt/presentation.xml" Id="R6c8981b245ed44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5fe4dc2a5949f9"/>
  </p:sldMasterIdLst>
  <p:notesMasterIdLst>
    <p:notesMasterId xmlns:r="http://schemas.openxmlformats.org/officeDocument/2006/relationships" r:id="R8f4b1bb6ac0a42e8"/>
  </p:notesMasterIdLst>
  <p:sldIdLst>
    <p:sldId xmlns:r="http://schemas.openxmlformats.org/officeDocument/2006/relationships" id="256" r:id="Re1cc2eab9f6a4e24"/>
    <p:sldId xmlns:r="http://schemas.openxmlformats.org/officeDocument/2006/relationships" id="257" r:id="Rb8c2f192f4f9474e"/>
    <p:sldId xmlns:r="http://schemas.openxmlformats.org/officeDocument/2006/relationships" id="258" r:id="R8cd43dcd4776456b"/>
    <p:sldId xmlns:r="http://schemas.openxmlformats.org/officeDocument/2006/relationships" id="259" r:id="R817a267dc0d94e28"/>
    <p:sldId xmlns:r="http://schemas.openxmlformats.org/officeDocument/2006/relationships" id="260" r:id="Rab2d14c8be18466b"/>
    <p:sldId xmlns:r="http://schemas.openxmlformats.org/officeDocument/2006/relationships" id="261" r:id="Rce94bc67bd7c4ffe"/>
    <p:sldId xmlns:r="http://schemas.openxmlformats.org/officeDocument/2006/relationships" id="262" r:id="R30bf83ba04b446e2"/>
    <p:sldId xmlns:r="http://schemas.openxmlformats.org/officeDocument/2006/relationships" id="263" r:id="R40a86875bbd04976"/>
    <p:sldId xmlns:r="http://schemas.openxmlformats.org/officeDocument/2006/relationships" id="264" r:id="R46f5129c77a44112"/>
    <p:sldId xmlns:r="http://schemas.openxmlformats.org/officeDocument/2006/relationships" id="265" r:id="Re9b6c377f6d54394"/>
    <p:sldId xmlns:r="http://schemas.openxmlformats.org/officeDocument/2006/relationships" id="266" r:id="R70f24bc3acf84ccc"/>
    <p:sldId xmlns:r="http://schemas.openxmlformats.org/officeDocument/2006/relationships" id="267" r:id="R83dd3b7dc198406c"/>
    <p:sldId xmlns:r="http://schemas.openxmlformats.org/officeDocument/2006/relationships" id="268" r:id="R216803bd736b41e3"/>
    <p:sldId xmlns:r="http://schemas.openxmlformats.org/officeDocument/2006/relationships" id="269" r:id="Rf238ea792f674855"/>
    <p:sldId xmlns:r="http://schemas.openxmlformats.org/officeDocument/2006/relationships" id="270" r:id="R15a147281d784429"/>
    <p:sldId xmlns:r="http://schemas.openxmlformats.org/officeDocument/2006/relationships" id="271" r:id="R1bc1b92a14e64f67"/>
    <p:sldId xmlns:r="http://schemas.openxmlformats.org/officeDocument/2006/relationships" id="272" r:id="R35d2e5ce9ecd4193"/>
    <p:sldId xmlns:r="http://schemas.openxmlformats.org/officeDocument/2006/relationships" id="273" r:id="R818328257c924e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f2ee0925034334" /><Relationship Type="http://schemas.openxmlformats.org/officeDocument/2006/relationships/slideMaster" Target="/ppt/slideMasters/slideMaster1.xml" Id="R625fe4dc2a5949f9" /><Relationship Type="http://schemas.openxmlformats.org/officeDocument/2006/relationships/notesMaster" Target="/ppt/notesMasters/notesMaster1.xml" Id="R8f4b1bb6ac0a42e8" /><Relationship Type="http://schemas.openxmlformats.org/officeDocument/2006/relationships/presProps" Target="/ppt/presProps.xml" Id="R1f4a9e962f394544" /><Relationship Type="http://schemas.openxmlformats.org/officeDocument/2006/relationships/tableStyles" Target="/ppt/tableStyles.xml" Id="Rab98c0882399411c" /><Relationship Type="http://schemas.openxmlformats.org/officeDocument/2006/relationships/slide" Target="/ppt/slides/slide1.xml" Id="Re1cc2eab9f6a4e24" /><Relationship Type="http://schemas.openxmlformats.org/officeDocument/2006/relationships/slide" Target="/ppt/slides/slide2.xml" Id="Rb8c2f192f4f9474e" /><Relationship Type="http://schemas.openxmlformats.org/officeDocument/2006/relationships/slide" Target="/ppt/slides/slide3.xml" Id="R8cd43dcd4776456b" /><Relationship Type="http://schemas.openxmlformats.org/officeDocument/2006/relationships/slide" Target="/ppt/slides/slide4.xml" Id="R817a267dc0d94e28" /><Relationship Type="http://schemas.openxmlformats.org/officeDocument/2006/relationships/slide" Target="/ppt/slides/slide5.xml" Id="Rab2d14c8be18466b" /><Relationship Type="http://schemas.openxmlformats.org/officeDocument/2006/relationships/slide" Target="/ppt/slides/slide6.xml" Id="Rce94bc67bd7c4ffe" /><Relationship Type="http://schemas.openxmlformats.org/officeDocument/2006/relationships/slide" Target="/ppt/slides/slide7.xml" Id="R30bf83ba04b446e2" /><Relationship Type="http://schemas.openxmlformats.org/officeDocument/2006/relationships/slide" Target="/ppt/slides/slide8.xml" Id="R40a86875bbd04976" /><Relationship Type="http://schemas.openxmlformats.org/officeDocument/2006/relationships/slide" Target="/ppt/slides/slide9.xml" Id="R46f5129c77a44112" /><Relationship Type="http://schemas.openxmlformats.org/officeDocument/2006/relationships/slide" Target="/ppt/slides/slide10.xml" Id="Re9b6c377f6d54394" /><Relationship Type="http://schemas.openxmlformats.org/officeDocument/2006/relationships/slide" Target="/ppt/slides/slide11.xml" Id="R70f24bc3acf84ccc" /><Relationship Type="http://schemas.openxmlformats.org/officeDocument/2006/relationships/slide" Target="/ppt/slides/slide12.xml" Id="R83dd3b7dc198406c" /><Relationship Type="http://schemas.openxmlformats.org/officeDocument/2006/relationships/slide" Target="/ppt/slides/slide13.xml" Id="R216803bd736b41e3" /><Relationship Type="http://schemas.openxmlformats.org/officeDocument/2006/relationships/slide" Target="/ppt/slides/slide14.xml" Id="Rf238ea792f674855" /><Relationship Type="http://schemas.openxmlformats.org/officeDocument/2006/relationships/slide" Target="/ppt/slides/slide15.xml" Id="R15a147281d784429" /><Relationship Type="http://schemas.openxmlformats.org/officeDocument/2006/relationships/slide" Target="/ppt/slides/slide16.xml" Id="R1bc1b92a14e64f67" /><Relationship Type="http://schemas.openxmlformats.org/officeDocument/2006/relationships/slide" Target="/ppt/slides/slide17.xml" Id="R35d2e5ce9ecd4193" /><Relationship Type="http://schemas.openxmlformats.org/officeDocument/2006/relationships/slide" Target="/ppt/slides/slide18.xml" Id="R818328257c924e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b9015fd7ba4e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f5d06cf09b4e2e" /><Relationship Type="http://schemas.openxmlformats.org/officeDocument/2006/relationships/notesMaster" Target="/ppt/notesMasters/notesMaster1.xml" Id="R90aa03c8c1bf46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8d7a5c75504bba" /><Relationship Type="http://schemas.openxmlformats.org/officeDocument/2006/relationships/notesMaster" Target="/ppt/notesMasters/notesMaster1.xml" Id="R599987047fda41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805d9485614b5a" /><Relationship Type="http://schemas.openxmlformats.org/officeDocument/2006/relationships/notesMaster" Target="/ppt/notesMasters/notesMaster1.xml" Id="R4f21f576875746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6bf924b0544c48" /><Relationship Type="http://schemas.openxmlformats.org/officeDocument/2006/relationships/notesMaster" Target="/ppt/notesMasters/notesMaster1.xml" Id="R2cd7dd82673b47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f2cdb848764939" /><Relationship Type="http://schemas.openxmlformats.org/officeDocument/2006/relationships/notesMaster" Target="/ppt/notesMasters/notesMaster1.xml" Id="R61501bfb842241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35b03bb4c347ea" /><Relationship Type="http://schemas.openxmlformats.org/officeDocument/2006/relationships/notesMaster" Target="/ppt/notesMasters/notesMaster1.xml" Id="R2eaba248ce5c45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7637bead7a44de" /><Relationship Type="http://schemas.openxmlformats.org/officeDocument/2006/relationships/notesMaster" Target="/ppt/notesMasters/notesMaster1.xml" Id="Ra1ee03c78e0e4a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bfa72b8df34ebf" /><Relationship Type="http://schemas.openxmlformats.org/officeDocument/2006/relationships/notesMaster" Target="/ppt/notesMasters/notesMaster1.xml" Id="Rc91a6235dcfd49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d4e6a6809e45d3" /><Relationship Type="http://schemas.openxmlformats.org/officeDocument/2006/relationships/notesMaster" Target="/ppt/notesMasters/notesMaster1.xml" Id="R42cab474ee2f4b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82d1c2ee994f3a" /><Relationship Type="http://schemas.openxmlformats.org/officeDocument/2006/relationships/notesMaster" Target="/ppt/notesMasters/notesMaster1.xml" Id="Rfb9207283b354d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57bbad17f948b0" /><Relationship Type="http://schemas.openxmlformats.org/officeDocument/2006/relationships/notesMaster" Target="/ppt/notesMasters/notesMaster1.xml" Id="R26d9124415cc4c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c714c1c2b84875" /><Relationship Type="http://schemas.openxmlformats.org/officeDocument/2006/relationships/notesMaster" Target="/ppt/notesMasters/notesMaster1.xml" Id="Rdda4231f78a946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e4f047c2814f21" /><Relationship Type="http://schemas.openxmlformats.org/officeDocument/2006/relationships/notesMaster" Target="/ppt/notesMasters/notesMaster1.xml" Id="Rc70cb04748784f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33b38638a74dcd" /><Relationship Type="http://schemas.openxmlformats.org/officeDocument/2006/relationships/notesMaster" Target="/ppt/notesMasters/notesMaster1.xml" Id="R495a8392799140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d2a99d6eeb4f11" /><Relationship Type="http://schemas.openxmlformats.org/officeDocument/2006/relationships/notesMaster" Target="/ppt/notesMasters/notesMaster1.xml" Id="R01713539997d44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f1fe1cb0514973" /><Relationship Type="http://schemas.openxmlformats.org/officeDocument/2006/relationships/notesMaster" Target="/ppt/notesMasters/notesMaster1.xml" Id="Rf68fa35093bb41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7e0e3f14414e01" /><Relationship Type="http://schemas.openxmlformats.org/officeDocument/2006/relationships/notesMaster" Target="/ppt/notesMasters/notesMaster1.xml" Id="Rf049465c0a6846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93010ae043466e" /><Relationship Type="http://schemas.openxmlformats.org/officeDocument/2006/relationships/notesMaster" Target="/ppt/notesMasters/notesMaster1.xml" Id="R9bc8d76e40734d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invariant: search methods may propose assets, but allocation and validation control the final portfolio.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Vanguard / WISER, Multi-Asset Portfolio Optimization challenge brief, supplied 2026.</a:t>
            </a:r>
          </a:p>
          <a:p xmlns:a="http://schemas.openxmlformats.org/drawingml/2006/main">
            <a:r>
              <a:t>- Repository final report, docs/portfolio_optimization_report.md.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the challenge from optimization vocabulary into the decision a portfolio team must make.</a:t>
            </a:r>
          </a:p>
          <a:p xmlns:a="http://schemas.openxmlformats.org/drawingml/2006/main">
            <a:r>
              <a:t>The solver must produce an allocation and rationale, not only a sampled bitstring.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Vanguard / WISER challenge brief, pages 1–4.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one phrase consistently: support selection chooses assets; allocation assigns percentages.</a:t>
            </a:r>
          </a:p>
          <a:p xmlns:a="http://schemas.openxmlformats.org/drawingml/2006/main">
            <a:r>
              <a:t>Every classical, random, ideal, GPU, and QPU candidate is sent to the same allocation oracle.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implementation: src/vanguard_portfolio/{allocation,window_search,quantum_solver,validation}.py.</a:t>
            </a:r>
          </a:p>
          <a:p xmlns:a="http://schemas.openxmlformats.org/drawingml/2006/main">
            <a:r>
              <a:t>- Final report, Algorithm §3.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each term before using the symbols. The lambdas are investor preference weights.</a:t>
            </a:r>
          </a:p>
          <a:p xmlns:a="http://schemas.openxmlformats.org/drawingml/2006/main">
            <a:r>
              <a:t>CVaR means average loss in the worst selected fraction of 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H. Markowitz, Portfolio Selection, 1952, doi:10.1111/j.1540-6261.1952.tb01525.x.</a:t>
            </a:r>
          </a:p>
          <a:p xmlns:a="http://schemas.openxmlformats.org/drawingml/2006/main">
            <a:r>
              <a:t>- R. Rockafellar and S. Uryasev, Optimization of CVaR, 2000, doi:10.21314/JOR.2000.038.</a:t>
            </a:r>
          </a:p>
          <a:p xmlns:a="http://schemas.openxmlformats.org/drawingml/2006/main">
            <a:r>
              <a:t>- Repository mathematical model: docs/mathematical_model.md.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continuous solution is not called the sparse winner; it is a relaxation.</a:t>
            </a:r>
          </a:p>
          <a:p xmlns:a="http://schemas.openxmlformats.org/drawingml/2006/main">
            <a:r>
              <a:t>The heuristic closes about 90.08% of the initial-to-certified objective difference.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results/final_submission/classical/continuous_backend_crosscheck.csv.</a:t>
            </a:r>
          </a:p>
          <a:p xmlns:a="http://schemas.openxmlformats.org/drawingml/2006/main">
            <a:r>
              <a:t>- results/final_submission/classical/tiny_exact_hybrid_summary.csv.</a:t>
            </a:r>
          </a:p>
          <a:p xmlns:a="http://schemas.openxmlformats.org/drawingml/2006/main">
            <a:r>
              <a:t>- results/final_submission/classical/main_100_asset_hybrid_summary.csv.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examples beyond the visible six rows: eligibility, mandatory holdings, return, income, factor bands, stress, CVaR, and implementation caps.</a:t>
            </a:r>
          </a:p>
          <a:p xmlns:a="http://schemas.openxmlformats.org/drawingml/2006/main">
            <a:r>
              <a:t>Zero breaches is backed by row-level left-hand sides, limits, slacks, and pass/fail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results/final_submission/constraints/all_constraints_certified_summary.csv.</a:t>
            </a:r>
          </a:p>
          <a:p xmlns:a="http://schemas.openxmlformats.org/drawingml/2006/main">
            <a:r>
              <a:t>- results/final_submission/constraints/all_constraints_certified_families.csv.</a:t>
            </a:r>
          </a:p>
          <a:p xmlns:a="http://schemas.openxmlformats.org/drawingml/2006/main">
            <a:r>
              <a:t>- results/final_submission/constraints/all_constraints_certified_checks.csv.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one-at-a-time sweeps make the solver controllable rather than a black box.</a:t>
            </a:r>
          </a:p>
          <a:p xmlns:a="http://schemas.openxmlformats.org/drawingml/2006/main">
            <a:r>
              <a:t>Mention that the expected-return reduction on the risk sweep is the price paid for lower volatility.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results/final_submission/preferences/preference_sensitivity_summary.csv.</a:t>
            </a:r>
          </a:p>
          <a:p xmlns:a="http://schemas.openxmlformats.org/drawingml/2006/main">
            <a:r>
              <a:t>- results/final_submission/preferences/preference_profile_summary.csv.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basis point is 0.01 percentage point.</a:t>
            </a:r>
          </a:p>
          <a:p xmlns:a="http://schemas.openxmlformats.org/drawingml/2006/main">
            <a:r>
              <a:t>Do not call lambda=1 universally best; present it as the strongest tail point in this measured sweep.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results/final_submission/preferences/scenario_penalty_summary.csv.</a:t>
            </a:r>
          </a:p>
          <a:p xmlns:a="http://schemas.openxmlformats.org/drawingml/2006/main">
            <a:r>
              <a:t>- results/final_submission/preferences/scenario_penalty_runs.csv.</a:t>
            </a:r>
          </a:p>
          <a:p xmlns:a="http://schemas.openxmlformats.org/drawingml/2006/main">
            <a:r>
              <a:t>- Rockafellar and Uryasev, 2000, doi:10.21314/JOR.2000.038.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full-hybrid evidence through 20,000 from one-window stretch evidence through 300,000.</a:t>
            </a:r>
          </a:p>
          <a:p xmlns:a="http://schemas.openxmlformats.org/drawingml/2006/main">
            <a:r>
              <a:t>Asterisks above 20,000 mark guide-relaxation fallback; blank gap fields mean no solved bound.</a:t>
            </a:r>
          </a:p>
          <a:p xmlns:a="http://schemas.openxmlformats.org/drawingml/2006/main">
            <a:r>
              <a:t>Complete median stretch time at 300,000 is 112.60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results/final_submission/scaling/full_hybrid_to_20000_runs.csv.</a:t>
            </a:r>
          </a:p>
          <a:p xmlns:a="http://schemas.openxmlformats.org/drawingml/2006/main">
            <a:r>
              <a:t>- results/final_submission/scaling/stretch_to_300000_runs.csv.</a:t>
            </a:r>
          </a:p>
          <a:p xmlns:a="http://schemas.openxmlformats.org/drawingml/2006/main">
            <a:r>
              <a:t>- results/final_submission/scaling/stretch_to_300000_summary.csv.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factor arrays are measured. The dense value is an analytical byte calculation; the matrix was intentionally not allocated.</a:t>
            </a:r>
          </a:p>
          <a:p xmlns:a="http://schemas.openxmlformats.org/drawingml/2006/main">
            <a:r>
              <a:t>Peak resident memory at 300,000 is 10.657 GiB because the process also holds solver workspaces and result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results/final_submission/scaling/global_scaling_summary.csv.</a:t>
            </a:r>
          </a:p>
          <a:p xmlns:a="http://schemas.openxmlformats.org/drawingml/2006/main">
            <a:r>
              <a:t>- results/final_submission/scaling/risk_representation_projection.csv.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 the most common misunderstanding: asset-universe size is decoupled from quantum width.</a:t>
            </a:r>
          </a:p>
          <a:p xmlns:a="http://schemas.openxmlformats.org/drawingml/2006/main">
            <a:r>
              <a:t>The default 16-variable, seven-one subspace has 11,440 feasible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Hadfield et al., 2019, doi:10.3390/a12020034.</a:t>
            </a:r>
          </a:p>
          <a:p xmlns:a="http://schemas.openxmlformats.org/drawingml/2006/main">
            <a:r>
              <a:t>- Wang et al., 2020, doi:10.1103/PhysRevA.101.012320.</a:t>
            </a:r>
          </a:p>
          <a:p xmlns:a="http://schemas.openxmlformats.org/drawingml/2006/main">
            <a:r>
              <a:t>- Repository final report, Algorithm §3.5.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backend and campaign: ibm_kingston, calibration timestamp 2026-08-07 00:37:20-04:00, job d9qmec1dsedc73afg2d0, 8,192 shots per case.</a:t>
            </a:r>
          </a:p>
          <a:p xmlns:a="http://schemas.openxmlformats.org/drawingml/2006/main">
            <a:r>
              <a:t>Raw survival drops to 7.75% at 28 qubits; the safety result is post-allocation validity, not ideal hardware cardinality.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results/final_submission/quantum/ibm_qpu_campaign_provenance.csv.</a:t>
            </a:r>
          </a:p>
          <a:p xmlns:a="http://schemas.openxmlformats.org/drawingml/2006/main">
            <a:r>
              <a:t>- results/final_submission/quantum/ibm_qpu_frontier_summary.csv.</a:t>
            </a:r>
          </a:p>
          <a:p xmlns:a="http://schemas.openxmlformats.org/drawingml/2006/main">
            <a:r>
              <a:t>- results/final_submission/quantum/ibm_qpu_hardware_validation.csv.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credibility slide. State clearly: no speed, quality, or scaling advantage is demonstrated.</a:t>
            </a:r>
          </a:p>
          <a:p xmlns:a="http://schemas.openxmlformats.org/drawingml/2006/main">
            <a:r>
              <a:t>The allocation oracle is not merely a safety patch; weak rank alignment proves it is mathematically 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results/final_submission/quantum/qubo_alignment_summary.csv.</a:t>
            </a:r>
          </a:p>
          <a:p xmlns:a="http://schemas.openxmlformats.org/drawingml/2006/main">
            <a:r>
              <a:t>- results/final_submission/quantum/candidate_pool_fairness_summary.csv.</a:t>
            </a:r>
          </a:p>
          <a:p xmlns:a="http://schemas.openxmlformats.org/drawingml/2006/main">
            <a:r>
              <a:t>- results/final_submission/quantum/frozen_window_method_benchmark.csv.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opening: this is a strong challenge submission because safety, evidence, and scale reinforce each other.</a:t>
            </a:r>
          </a:p>
          <a:p xmlns:a="http://schemas.openxmlformats.org/drawingml/2006/main">
            <a:r>
              <a:t>Offer the Copilot demo or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final report and results/final_submission/claim_evidence_map.csv.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when judges ask whether evidence tiers or repetitions were mixed.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results/final_submission/evidence_summary.csv.</a:t>
            </a:r>
          </a:p>
          <a:p xmlns:a="http://schemas.openxmlformats.org/drawingml/2006/main">
            <a:r>
              <a:t>- results/final_submission/archive_manifest.csv.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appendix prevents an overfit interpretation of the certified in-sample optimum.</a:t>
            </a:r>
          </a:p>
          <a:p xmlns:a="http://schemas.openxmlformats.org/drawingml/2006/main">
            <a:r>
              <a:t>The paths are generated robustness tests, not future forecasts.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results/final_submission/classical/main_100_asset_backtest_summary.csv.</a:t>
            </a:r>
          </a:p>
          <a:p xmlns:a="http://schemas.openxmlformats.org/drawingml/2006/main">
            <a:r>
              <a:t>- results/final_submission/figures/main_backtest_robustness.png.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when judges ask whether random received more post-processing or more candidate evaluations.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results/final_submission/quantum/candidate_pool_fairness_summary.csv.</a:t>
            </a:r>
          </a:p>
          <a:p xmlns:a="http://schemas.openxmlformats.org/drawingml/2006/main">
            <a:r>
              <a:t>- results/final_submission/figures/candidate_pool_fairness.png.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any question about the meaning of optimal, exact, valid, or scalable.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report, Algorithm §3.6.</a:t>
            </a:r>
          </a:p>
          <a:p xmlns:a="http://schemas.openxmlformats.org/drawingml/2006/main">
            <a:r>
              <a:t>- results/final_submission/claim_evidence_map.csv.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e1c0821354c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90d01ce3d84dcb" /><Relationship Type="http://schemas.openxmlformats.org/officeDocument/2006/relationships/slideLayout" Target="/ppt/slideLayouts/slideLayout1.xml" Id="R251b5dbbf19d45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1b5dbbf19d45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c53d8616e40ab" /><Relationship Type="http://schemas.openxmlformats.org/officeDocument/2006/relationships/notesSlide" Target="/ppt/notesSlides/notesSlide1.xml" Id="R25f916878c4e41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783276abc407b" /><Relationship Type="http://schemas.openxmlformats.org/officeDocument/2006/relationships/notesSlide" Target="/ppt/notesSlides/notesSlide2.xml" Id="Ra37be3afb2754a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12e607dda49a7" /><Relationship Type="http://schemas.openxmlformats.org/officeDocument/2006/relationships/notesSlide" Target="/ppt/notesSlides/notesSlide3.xml" Id="R10385927952a4c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bbca94c974332" /><Relationship Type="http://schemas.openxmlformats.org/officeDocument/2006/relationships/notesSlide" Target="/ppt/notesSlides/notesSlide4.xml" Id="R61621848202940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8276f27494b19" /><Relationship Type="http://schemas.openxmlformats.org/officeDocument/2006/relationships/notesSlide" Target="/ppt/notesSlides/notesSlide5.xml" Id="Race26607866b44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a589bdcb04741" /><Relationship Type="http://schemas.openxmlformats.org/officeDocument/2006/relationships/image" Target="/ppt/media/image.png" Id="Rb0edde8a92384263" /><Relationship Type="http://schemas.openxmlformats.org/officeDocument/2006/relationships/notesSlide" Target="/ppt/notesSlides/notesSlide6.xml" Id="R722cfa1bc9c94b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2cc4a8b0d4991" /><Relationship Type="http://schemas.openxmlformats.org/officeDocument/2006/relationships/image" Target="/ppt/media/image2.png" Id="R584b1318c0804bc9" /><Relationship Type="http://schemas.openxmlformats.org/officeDocument/2006/relationships/notesSlide" Target="/ppt/notesSlides/notesSlide7.xml" Id="Rda6e12f1bec24e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470fcbd9840aa" /><Relationship Type="http://schemas.openxmlformats.org/officeDocument/2006/relationships/image" Target="/ppt/media/image3.png" Id="Re0e55006ecd44420" /><Relationship Type="http://schemas.openxmlformats.org/officeDocument/2006/relationships/notesSlide" Target="/ppt/notesSlides/notesSlide8.xml" Id="R4cbe82915ae146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29e840221469c" /><Relationship Type="http://schemas.openxmlformats.org/officeDocument/2006/relationships/image" Target="/ppt/media/image4.png" Id="R00b4dac3a870438e" /><Relationship Type="http://schemas.openxmlformats.org/officeDocument/2006/relationships/notesSlide" Target="/ppt/notesSlides/notesSlide9.xml" Id="R4599dc906d7541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f928a2756418b" /><Relationship Type="http://schemas.openxmlformats.org/officeDocument/2006/relationships/image" Target="/ppt/media/image5.png" Id="Rb966128fc04646c8" /><Relationship Type="http://schemas.openxmlformats.org/officeDocument/2006/relationships/notesSlide" Target="/ppt/notesSlides/notesSlide10.xml" Id="R50ec49f9e0b94f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56904a15f4b79" /><Relationship Type="http://schemas.openxmlformats.org/officeDocument/2006/relationships/notesSlide" Target="/ppt/notesSlides/notesSlide11.xml" Id="Raeea00cb806548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d91d2db224349" /><Relationship Type="http://schemas.openxmlformats.org/officeDocument/2006/relationships/image" Target="/ppt/media/image6.png" Id="Rb9c12aa7604443fe" /><Relationship Type="http://schemas.openxmlformats.org/officeDocument/2006/relationships/notesSlide" Target="/ppt/notesSlides/notesSlide12.xml" Id="R7a695a9ab94b41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1a2ebdd934912" /><Relationship Type="http://schemas.openxmlformats.org/officeDocument/2006/relationships/image" Target="/ppt/media/image7.png" Id="Re7efc51285284941" /><Relationship Type="http://schemas.openxmlformats.org/officeDocument/2006/relationships/notesSlide" Target="/ppt/notesSlides/notesSlide13.xml" Id="R76858d04c02a40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aedce2e91485d" /><Relationship Type="http://schemas.openxmlformats.org/officeDocument/2006/relationships/notesSlide" Target="/ppt/notesSlides/notesSlide14.xml" Id="Rc670f820ab3d45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473c0ffd34d7c" /><Relationship Type="http://schemas.openxmlformats.org/officeDocument/2006/relationships/notesSlide" Target="/ppt/notesSlides/notesSlide15.xml" Id="R911d100018314c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0e457bec74a4a" /><Relationship Type="http://schemas.openxmlformats.org/officeDocument/2006/relationships/image" Target="/ppt/media/image8.png" Id="Rb0340226ade4426a" /><Relationship Type="http://schemas.openxmlformats.org/officeDocument/2006/relationships/notesSlide" Target="/ppt/notesSlides/notesSlide16.xml" Id="Rd5c73fc148ae4d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39f9c7fb14a3a" /><Relationship Type="http://schemas.openxmlformats.org/officeDocument/2006/relationships/image" Target="/ppt/media/image9.png" Id="R487d2731260f4d3e" /><Relationship Type="http://schemas.openxmlformats.org/officeDocument/2006/relationships/notesSlide" Target="/ppt/notesSlides/notesSlide17.xml" Id="R9cf1138358fb49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93fd126e941d3" /><Relationship Type="http://schemas.openxmlformats.org/officeDocument/2006/relationships/notesSlide" Target="/ppt/notesSlides/notesSlide18.xml" Id="Re11d97e4dbbb45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D9032-352E-4227-8087-9496E5B1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VANGUARD · 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5F91B-FC42-4CBA-B96B-A1100D4A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847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Constraint-safe</a:t>
            </a:r>
          </a:p>
          <a:p xmlns:a="http://schemas.openxmlformats.org/drawingml/2006/main">
            <a:pPr algn="l">
              <a:defRPr sz="5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quantum-guided</a:t>
            </a:r>
          </a:p>
          <a:p xmlns:a="http://schemas.openxmlformats.org/drawingml/2006/main">
            <a:pPr algn="l">
              <a:defRPr sz="5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DFD6D-66D8-4269-A0E3-55DDE26A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2192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A0758-8D54-4025-A8C3-DF3D64DA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504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EXACT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FD818-DF8C-4F8C-BF0E-9BB5DA8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288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77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 guardrail families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411BA-749C-4055-BB99-0C482EE5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289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177FD-7B28-4C1F-89D5-549DA05E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14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MEASURED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152DB-D561-4B9E-AF9C-BEC0E1C3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38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300,000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083D9-37CE-4B08-A0B3-F6800106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386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5D71D-C5E4-44D4-A99B-EC4A7BD4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REAL HARDWARE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86F31-8373-4543-8320-4C773796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482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8–28 qubits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80F88-EC3C-4A24-B289-1AE04497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A scalable classical solver with a safe, auditable quantum proposal interface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71C96-1F61-4875-A52D-382E1808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Final challenge presentation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978902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A4AFF-ECD5-4573-B847-92A5E361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D6C8E-44DB-4B05-A155-53471E4C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rules matter more than circuit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5FE17-7C71-4490-AEA2-CD9EE44C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BE675-D0D7-424E-94C9-E419C04F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required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7D16B-C1E1-4E20-A213-A3176725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4619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An investable table of asset weights, trades, risk, income, cost, and a rationale a portfolio team can audit.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6BAA9-BD52-4DF7-93E9-E9383686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2875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2EA3A-483C-443C-A064-B690A81E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38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D633C-ABC3-4B53-956A-05DBAA19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00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Improve expected utility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973EC-25C7-4ED7-8FD7-3F81E350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74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Balance risk, growth, income, drawdown, and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8F81A-D326-4677-B88F-18C56F3F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9875"/>
            <a:ext cx="571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21F0A-7E3D-409D-98FD-AD176DA9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194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77B87-33F7-48A2-A9BE-2579C755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813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Respect every guardrail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7F643-09D5-46C0-81DE-D59742C0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385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Budget, holdings, groups, turnover, factors, stress, and CVaR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3132B-506F-4A58-B76C-6BCD8D01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910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7FE68-5576-435E-A4A2-F7D9E70B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FB7A1-12BB-41DB-8DC2-73B86A6E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 what happened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6B2B4-D896-4539-9A59-35BE6C1A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96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Classical baselines, validation, scalability, explainability, and hardware provenance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929DE-F1C2-4BB6-AC92-A475E9BC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Our standard: a poor or noisy proposal is rejected—never repaired into an unsafe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8640926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715D3-013B-46B5-BB8E-B750770E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FE3E9-3EC6-42D7-A642-CE3FC2A3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safety boundary keeps every method fair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2236C-4A4A-4F95-8A34-E136B7D7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E0D45-ABBD-4553-BBD3-A9C2287B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286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31D28-DA24-4DFD-84FD-14484A89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621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A2232-6C05-4E5A-B361-098BDC4D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670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universe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EEC7B-3DE7-446F-8244-0ADE27C4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2425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Factor QP ranks all assets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A71C8-6AC5-454B-A973-1E055A87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43250"/>
            <a:ext cx="4095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F6BBC-43DE-4C45-A9AB-B44130F5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286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7299A-E5DF-482D-B678-F039199D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621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F12D9-58F0-4989-AAB7-092D37C0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6670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Adaptive window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9E37B-34FA-40A7-B7DB-A16E87D3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2425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Freeze most holdings; test a local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EFCE9-249D-449F-9261-EAFB18C3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43250"/>
            <a:ext cx="4095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07F9F-7065-49C9-AF0F-3265A747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286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54FF3-CC6A-42FC-A3D4-D6F650C4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1621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E7379-77A1-4E5D-B147-130BCE84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670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Candidate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C3126-C26F-4922-91D5-FFC193AD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2425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Classical LNS or XY-QAOA proposes assets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851D6-939D-4568-9F54-4AC2E349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43250"/>
            <a:ext cx="4095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0D985-E3B0-477C-862D-5379B5D6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571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D5869-A43A-4D81-94BA-F63A227A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1621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B6DF2-D981-45BB-88AB-195409FD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6700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Accepted portfolio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14BD9-B3EA-4B83-89A0-D2F2DD91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524250"/>
            <a:ext cx="211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Allocate exact weights; validate every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16E6C4-3999-465D-953F-55CE9FE4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quantum computer never assigns capital and never bypasses the independent validator.</a:t>
            </a:r>
          </a:p>
        </p:txBody>
      </p:sp>
    </p:spTree>
    <p:extLst>
      <p:ext uri="{BB962C8B-B14F-4D97-AF65-F5344CB8AC3E}">
        <p14:creationId xmlns:p14="http://schemas.microsoft.com/office/powerpoint/2010/main" val="35437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C3D0E9-EF73-4FAE-9B03-9F2DC0CC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4A497-E0B4-48D7-BC19-B7499DF7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makes investor trade-offs measurable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386E5-9B08-4560-885B-F2A58A98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C47AC-0F2F-4C61-BF07-47A1C17C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EC774-925B-4CE9-BC35-4816E63E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EC16E-5ED2-465B-BFB9-24B80EEA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A6CA8-4FEF-46A7-A75C-1349656D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λᵣ · variance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2122E-1417-45C3-AA70-1EF8B3DF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97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3C451-A14C-4EF9-BC00-8228F0D7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28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76ECF-F400-4040-9974-457CFC55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76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EAED7-D2FA-4B50-8C4F-3EB22F1B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478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λg · return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FF76A-5480-4973-8840-92F3DAC0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097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9FE3F-CE29-4405-9481-D341826E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1A8E1-CE87-43C8-9D63-809D91D5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INCOME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7AE83-E9C1-4175-A267-70C24E0F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λy · yield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F0EF1-DEA2-425E-AA88-F83AA5DF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97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51432-AD21-45FC-9791-A4CE69C7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BE7E9-3E2C-4557-AABD-AACC3238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4473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4473D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9C52F-89E9-4809-93CF-D418EA8B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52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λc · turnover 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7704E-73D0-4A27-B1F2-B5B64D8C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110490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4EBDC-069C-4DA4-BF48-DC6B73E9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 guardrails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7FB3D-04C0-4E90-BEE5-B2A3300A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Capital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35019-82B0-4B4A-A03D-ADF87D14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100% invested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Long-only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Position min/max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9BC59F-7126-495C-B1C6-DD94CDA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96A8D5-9C48-4099-AECA-5B6187C4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Exactly K holdings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Eligible + mandatory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Group bands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9ACFC-2B28-4026-9244-40890EC3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5C509E-5727-4A72-B387-5ECA7891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Factor bands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Stress floors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95% CVaR limit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85AFA-6CDA-4114-92DE-419F5D7C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DB2917-E394-4792-B75A-5675E6FB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053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Turnover cap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Trading cost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Liquidity cap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C14DA-2170-411B-8071-09451684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composite objective is better. It is not a percentage return.</a:t>
            </a:r>
          </a:p>
        </p:txBody>
      </p:sp>
    </p:spTree>
    <p:extLst>
      <p:ext uri="{BB962C8B-B14F-4D97-AF65-F5344CB8AC3E}">
        <p14:creationId xmlns:p14="http://schemas.microsoft.com/office/powerpoint/2010/main" val="2016376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9A5C0-834D-45AC-9752-39D6DF4B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9EF29-0980-47FA-9DBE-E9D92F31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Correctness is triangulated before scale is claimed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CD3D3-2672-44DE-AEC0-36D14722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AA3A7-3E73-4F1D-A0BF-0827BA4A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0D323-6CFD-42C9-980F-A2E7F3F3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19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1.41×10⁻⁹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ECC6B-22D1-4847-BAAF-FD0925FF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3190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objective spread across SciPy, OSQP, Clarabel, and Gurobi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DD6D1-D04E-4016-8851-7662E7E6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B2E0A-D509-4D71-906D-D7DD63D6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19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EE261-5AF7-47FC-8EF0-E62E62AC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05075"/>
            <a:ext cx="3190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tiny exhaustive enumeration equals Gurobi at −0.03681145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97077-679B-4E39-84E8-270DADD4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B0D77-3786-445C-AD8D-9E880ADC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9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0.0%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E881E-DA12-499D-9C89-D2C2CF9B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3190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100-asset Gurobi certificate at objective −0.0384147146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D386B-62EB-433F-A68E-A0E399D2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7AFA2-6AB7-4EA5-A4FC-B6040ADC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 initialization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47ED0-9953-416C-BB9B-20C1F856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−0.03468764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86813-FA82-4405-AB13-0B77AEB9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720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feasible starting 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E2EEE-9106-4F2C-9CFA-98BE861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LNS / XY-QAOA / penalty QAOA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A5F16-96BF-45E9-934B-906325EA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67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−0.03804482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79C79-C0B3-4DEA-AA63-C37D6837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673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same best heuristic support after allocation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DC245-F6BC-4875-95CC-09F3B202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Gurobi MIQP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BA63A-DBF0-4F64-B4C2-17885B06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626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−0.03841471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755DC-22BC-4E13-AAA0-ECC9C5D1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626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global optimum for the stated model</a:t>
            </a:r>
          </a:p>
        </p:txBody>
      </p:sp>
    </p:spTree>
    <p:extLst>
      <p:ext uri="{BB962C8B-B14F-4D97-AF65-F5344CB8AC3E}">
        <p14:creationId xmlns:p14="http://schemas.microsoft.com/office/powerpoint/2010/main" val="373069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D30AC-76BC-432A-AEAD-EB3BF294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0125E-EC07-4D82-A2FB-1D054380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17 guardrail families pass a global certificate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62C17-5413-43E9-98B1-37FD2118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7FF43-3460-4D73-B3CE-703E4908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85875"/>
            <a:ext cx="8001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dde8a92384263"/>
          <a:stretch xmlns:a="http://schemas.openxmlformats.org/drawingml/2006/main"/>
        </p:blipFill>
        <p:spPr>
          <a:xfrm xmlns:a="http://schemas.openxmlformats.org/drawingml/2006/main">
            <a:off x="428625" y="1604195"/>
            <a:ext cx="8001000" cy="412585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4F943-BF9A-44ED-A0AA-FFA2D281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39B0-AB71-49B3-AA70-BC59C5C0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A59B1-A61D-4C05-8652-C9DF5F6F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constraint families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54D13-3978-4A56-90C4-3CE4C7C8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8005F-B34F-4691-BBBE-A56580F6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718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57DA8-C55C-4ABC-9D98-7D540622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independent row-level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581E9-55BE-4BB8-8508-5CFBCCD1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Gurobi objective −0.0320099372 · K = 12 · reported gap 0.0%</a:t>
            </a:r>
          </a:p>
        </p:txBody>
      </p:sp>
    </p:spTree>
    <p:extLst>
      <p:ext uri="{BB962C8B-B14F-4D97-AF65-F5344CB8AC3E}">
        <p14:creationId xmlns:p14="http://schemas.microsoft.com/office/powerpoint/2010/main" val="2130668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7AE5E-854C-4FE7-A637-24592977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195AA-A1BD-406C-B922-83EAE971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Investor controls move the portfolio as expected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F546A-908C-44A6-A5CC-FB63AC19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30D7A-F7FE-444B-A8C6-C9A205D4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847725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b1318c0804bc9"/>
          <a:stretch xmlns:a="http://schemas.openxmlformats.org/drawingml/2006/main"/>
        </p:blipFill>
        <p:spPr>
          <a:xfrm xmlns:a="http://schemas.openxmlformats.org/drawingml/2006/main">
            <a:off x="381000" y="2263350"/>
            <a:ext cx="8477250" cy="27599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1F2D4-F9E3-43EB-A883-42D6BE8B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04EC2-23AA-4963-9E91-A2CACCA3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240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12.03% → 7.81% volatility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2E038-C64B-437A-A97A-0C66D28C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Income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7BD29-157A-4E9C-A3D1-EB69B94E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528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2.18% → 2.50% yield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143C2-756E-4B41-AB65-00EE9DF7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81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4473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4473D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29CB2-624A-4953-9E87-2BAB9D9B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815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40.00% → 12.36% turnover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5A5CE-ADFA-4780-844C-651D9AA2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340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54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Every allocation shown: zero hard-constraint breaches</a:t>
            </a:r>
          </a:p>
        </p:txBody>
      </p:sp>
    </p:spTree>
    <p:extLst>
      <p:ext uri="{BB962C8B-B14F-4D97-AF65-F5344CB8AC3E}">
        <p14:creationId xmlns:p14="http://schemas.microsoft.com/office/powerpoint/2010/main" val="1217380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EDA07-66C7-4607-928A-98056647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1EED1-6E0C-4ED5-9CFE-D8AB4E3D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Tail risk falls 54 basis points on a clear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789E1-1B65-407C-8A2E-24AF70AF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27F19-2715-44F1-B4ED-4796F37F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85725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55006ecd44420"/>
          <a:stretch xmlns:a="http://schemas.openxmlformats.org/drawingml/2006/main"/>
        </p:blipFill>
        <p:spPr>
          <a:xfrm xmlns:a="http://schemas.openxmlformats.org/drawingml/2006/main">
            <a:off x="1235118" y="1238250"/>
            <a:ext cx="6864265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C8A17-C5E4-4B20-B324-186837C3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76375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B90BB-6B47-4537-971E-46C7CB82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6687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−54.31 bp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4335E-B5EB-4377-B3E3-835AE69A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held-out 95% CVaR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90E88-8EBE-47C5-914C-560AAE71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71875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8F27A-4B44-45F3-BF71-E9B4CEA7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6237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−41.55 bp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D897D-40A8-4E5D-ADBF-8FB71A56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expected return trade-off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5A51C-CBB1-4917-BE8B-B380DE65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197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93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30 / 30 allocations valid</a:t>
            </a:r>
          </a:p>
        </p:txBody>
      </p:sp>
    </p:spTree>
    <p:extLst>
      <p:ext uri="{BB962C8B-B14F-4D97-AF65-F5344CB8AC3E}">
        <p14:creationId xmlns:p14="http://schemas.microsoft.com/office/powerpoint/2010/main" val="18064037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24DCA-26EF-48E3-A50E-B6720480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386A1-2716-4CB1-8C8A-556B9053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repeated run stays valid at 300,000 assets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36B72-0804-465E-BF65-4CE93C88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EC9E5-C7C6-41BD-8746-D8B76E65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38250"/>
            <a:ext cx="857250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4dac3a870438e"/>
          <a:stretch xmlns:a="http://schemas.openxmlformats.org/drawingml/2006/main"/>
        </p:blipFill>
        <p:spPr>
          <a:xfrm xmlns:a="http://schemas.openxmlformats.org/drawingml/2006/main">
            <a:off x="333375" y="2216598"/>
            <a:ext cx="8572500" cy="294867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0432E-D4B5-47BE-B365-E6260C8A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9CBCF-1D7C-4BD9-A420-8BA17E1F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716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21 /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3A7EB-BC55-4B79-9F95-F774F024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62200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15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full three-window runs valid through 20k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A2401-2740-4DE8-B928-06357B79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AB154-DCB6-461D-852A-E65B7818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CC22D-8C74-414F-9870-8ABD1E93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24325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15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stretch runs valid through 300k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9783B-65FE-4EA0-B5FD-B449DF85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905375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70851-9F55-491F-84FC-B7A818B4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09587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34.69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ACB3E-0C80-4D67-8EA7-67458CCB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886450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66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median first valid at 300k</a:t>
            </a:r>
          </a:p>
        </p:txBody>
      </p:sp>
    </p:spTree>
    <p:extLst>
      <p:ext uri="{BB962C8B-B14F-4D97-AF65-F5344CB8AC3E}">
        <p14:creationId xmlns:p14="http://schemas.microsoft.com/office/powerpoint/2010/main" val="16218778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27744-77B0-4E37-BB0C-8EAF622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2BDF9-828E-4276-971E-B29A7FD1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Factor risk removes a 670 GiB memory wall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2952B-B4D1-4112-A36F-AECA2A6E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9EC94-9787-48D1-90BB-7B6150F1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72390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6128fc04646c8"/>
          <a:stretch xmlns:a="http://schemas.openxmlformats.org/drawingml/2006/main"/>
        </p:blipFill>
        <p:spPr>
          <a:xfrm xmlns:a="http://schemas.openxmlformats.org/drawingml/2006/main">
            <a:off x="381000" y="1375371"/>
            <a:ext cx="7239000" cy="45835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F6B03-58F2-4A35-9290-AC1972FB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7637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14A1E-6201-4C2C-8D06-F963E616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29.76 MiB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943B3-5FE1-41FD-AD59-A060634A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574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measured 12-factor arrays at 300k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5105C-8448-490A-A0B0-83185523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766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52AA6-567E-4878-A1A9-EC85C769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671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670.55 GiB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6A224-2897-4049-A133-8059C8B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577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one dense covariance at 300k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750DA-BD34-4FC9-93BB-76190B09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5721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63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≈23,076× less risk-array storage</a:t>
            </a:r>
          </a:p>
        </p:txBody>
      </p:sp>
    </p:spTree>
    <p:extLst>
      <p:ext uri="{BB962C8B-B14F-4D97-AF65-F5344CB8AC3E}">
        <p14:creationId xmlns:p14="http://schemas.microsoft.com/office/powerpoint/2010/main" val="998766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E3CA9-6AC4-48AC-B9F0-AE7FEC70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8DB11-5537-46EE-B8EC-0F99E85C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Quantum tests 16-asset windows—not 300k qubits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FFD59-8FF7-4B7B-BB6F-9ED0FF51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78861-DAF0-4666-AD5D-801A6EA6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213FC-F927-470D-B40F-167423CC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global candidate assets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30E34-090F-4CD7-8A70-AEB5DA73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14550"/>
            <a:ext cx="119062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49D60-E503-4013-8B6A-5440927E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19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AAC14-983D-429E-B672-70ACD93E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765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adaptive window qubits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94435-B73A-4777-9417-0179EC22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119062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C4EED-65F3-4C2C-BC4B-A95A66BE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19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K = 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22BD2-1C23-41FA-9977-2F0F9B6F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validated final holdings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E2CB3-4FBA-437F-B75F-243019F5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2FC56-34D4-4D7A-A121-4604C647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Exact cardinality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B0BE8-AB3A-4106-8031-FDF54AB5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00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XY mixer exchanges 10 ↔ 01 inside the ideal fixed-weight subspace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4FCCE-7497-4835-9CF6-5247814F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52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Exact allocation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45D90-E93B-45BB-87E3-1CE9F5BF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5295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Every sampled support receives continuous financial weights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DDBFB-D011-4568-9FEB-142E9E5A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37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447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4473D"/>
                </a:solidFill>
                <a:latin typeface="Arial"/>
                <a:ea typeface="Arial"/>
                <a:cs typeface="Arial"/>
              </a:rPr>
              <a:t>Exact rejection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CF03F-5681-4280-AAB5-3C6D8BC2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959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Wrong cardinality, infeasible, duplicate, or worse candidates are rejected</a:t>
            </a:r>
          </a:p>
        </p:txBody>
      </p:sp>
    </p:spTree>
    <p:extLst>
      <p:ext uri="{BB962C8B-B14F-4D97-AF65-F5344CB8AC3E}">
        <p14:creationId xmlns:p14="http://schemas.microsoft.com/office/powerpoint/2010/main" val="15369299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CE4ED-30EC-472C-B097-89CA0CC5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01F4C-E99E-40C9-9C7A-B6FC4501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IBM reaches 28 qubits; portfolio rules still 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88D22-3786-48D4-8754-A52B8612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D7A0D-0277-44FD-89B2-DEE178CC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19200"/>
            <a:ext cx="8572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12aa7604443fe"/>
          <a:stretch xmlns:a="http://schemas.openxmlformats.org/drawingml/2006/main"/>
        </p:blipFill>
        <p:spPr>
          <a:xfrm xmlns:a="http://schemas.openxmlformats.org/drawingml/2006/main">
            <a:off x="385979" y="1219200"/>
            <a:ext cx="8467291" cy="4953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D3EAA-6A5A-4B44-82AD-2CECBECB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525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7B53F-E595-4C20-8F69-CFEFA200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430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8–28 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FA5DC-2218-48D8-BB1B-F32E7485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ten width-depth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68C5A-981E-4DFD-8453-DC68BFA7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099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236FE-3986-4007-8F79-DEC59409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004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29.14%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69426-6A94-4765-B3C6-4DEBD51D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909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18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median raw cardinality survival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CD5EE-6AA6-4D2C-B885-AB61C6E1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6672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BDE2F-01B5-4FD5-86F6-4A383CC6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577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 / 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CAD33-F400-49A2-B4C8-8B968147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6483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545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valid after allocation + validation</a:t>
            </a:r>
          </a:p>
        </p:txBody>
      </p:sp>
    </p:spTree>
    <p:extLst>
      <p:ext uri="{BB962C8B-B14F-4D97-AF65-F5344CB8AC3E}">
        <p14:creationId xmlns:p14="http://schemas.microsoft.com/office/powerpoint/2010/main" val="14692293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F0A14-D3DF-4709-BF36-53736F74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WISER QUANTUM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CDB5D-8D4F-4340-95D8-51FBE469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honest audit tells us exactly what to improve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9007A-B603-4195-B885-4D38145B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B7EFE-1689-4974-A3FD-305B576B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85875"/>
            <a:ext cx="7239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fc51285284941"/>
          <a:stretch xmlns:a="http://schemas.openxmlformats.org/drawingml/2006/main"/>
        </p:blipFill>
        <p:spPr>
          <a:xfrm xmlns:a="http://schemas.openxmlformats.org/drawingml/2006/main">
            <a:off x="333375" y="2561144"/>
            <a:ext cx="7239000" cy="221196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45BBE-26D5-4466-A1F6-8EC20CC8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28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E15AF-A0FB-4A45-9078-6396E227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0.237–0.276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9119D-CAFB-4C19-844F-5B3C9EC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9825"/>
            <a:ext cx="342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Spearman QUBO ↔ allocation rank correlation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73B90-639B-4E81-BA0D-1F78FBCA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F6393-1BB6-4612-836F-B68AABFF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/ 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42F43-039D-4A85-A065-DD28BE39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67200"/>
            <a:ext cx="342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strict QPU wins over matched random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5A0DE-CEC2-4597-8759-502C3AD1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1911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E6268-B538-493E-980A-5485604E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2450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66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  Improve the allocation-aware surrogate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2  Keep circuits shallow and calibrated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3  Match oracle-call and time budgets</a:t>
            </a:r>
          </a:p>
        </p:txBody>
      </p:sp>
    </p:spTree>
    <p:extLst>
      <p:ext uri="{BB962C8B-B14F-4D97-AF65-F5344CB8AC3E}">
        <p14:creationId xmlns:p14="http://schemas.microsoft.com/office/powerpoint/2010/main" val="12775601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C4937-B1B2-415E-9642-C4CDF067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WHY THIS SOLVER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F80A1-B4F6-4577-97CE-9D7C240A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85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Production-safe today.</a:t>
            </a:r>
          </a:p>
          <a:p xmlns:a="http://schemas.openxmlformats.org/drawingml/2006/main">
            <a:pPr algn="l">
              <a:defRPr sz="4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Quantum-ready by design.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A5BCA-9F14-455C-9D17-006A99FD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F27B4-60F0-4547-BFF8-1888F93D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81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5A63A-B865-4A4B-8690-2FF0E8A2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924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21918-53E4-4D30-9DA5-261460D8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328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Exact certificates and independent validation anchor every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5F82A-38B4-4BED-A0ED-3DD5BAC1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64577-B06C-473E-BFD5-C6DDA959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81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58793-316E-40EA-9A7E-85447908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924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BD30F-1A58-40FE-9DAD-457FF402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24375"/>
            <a:ext cx="328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Factor risk and local windows reach 300,000 assets without dense covariance.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BB28C-5CFB-40ED-8A5F-41CE773D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0A07E-1FE2-4350-BFA5-1E4BC66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81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2A2D3-0F62-4867-996B-9C441418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924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Honest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1A1FE-4A8F-4BAD-A96A-DC9719AF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24375"/>
            <a:ext cx="328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Real IBM hardware, fair baselines, and no unsupported advantage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669F3-A5EA-47E5-BDEF-7FB824BE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531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69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Choose the solver that can explain, validate, and reproduce every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7382125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F41EF0-403D-4B0E-B7CD-A03EE009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E1BD7-A9FC-4987-8EF1-0D972363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Appendix · Every claim has a defined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4C558-0B1B-4A2A-BC96-41B4CC27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0D09A-133A-4685-B97A-FF84CC16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5B05E-5BB1-46F4-BE91-E61751D6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6D4B5-E0A8-414D-A4F3-C1B2AB7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7F7AF-C783-4A06-B983-995B812A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Quantum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48D29-F6B6-4E63-8092-4A7E073F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Certificate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A3A86-E895-4E4F-AD71-1E926C0E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428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Breaches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17B43-BE50-4771-A5EE-52CA9567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331EE-5FF1-4AEE-A67E-7310409B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1786A-F1F9-4752-BE00-4FF37A2A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sparse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55D18-4ABA-4FBC-9C27-4C463B39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 assets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5BF74-E9AD-4907-AB64-B6C1F29A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D889F-7BAE-47AE-8442-F0FB968E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Aer GPU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FEDE0-36EA-44F4-A76F-B6F2C530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Gurobi 0.0%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AF389-948A-453C-B3E1-D56E943F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AE405-603D-4A2C-97E5-3776D794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gauntlet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80508-7FC9-4F42-AF29-861AFC3C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14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 / K12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9B8E9-15CF-4408-868D-CA8B0AA6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3FC16-276B-465B-8D93-581C73D9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Aer GPU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77C70-836F-4757-AB98-7B9880D4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Gurobi 0.0%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7E8013-2262-41D0-AA02-5DEBEF56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14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08146-C748-4F03-BC12-FB532839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575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7BAC8-ADB1-46D1-A5F9-87D8AEB3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Scenario-rich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DFCAC-BA5C-40D5-8766-27B72C0F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 / 10k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92A3C-391E-458E-83C5-92DE1AE0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884C4C-616D-4C26-99DC-E04739C3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16q Aer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CC8FA-FFF8-46C1-8354-FE45487B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global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6381D-DF6A-428C-A8DA-D10FBB47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48A66F-14B3-4C31-97F0-54DF0621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scaling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1C0A8B-8F98-4883-8B64-8FEE6AED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52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250–20k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20A5DC-1F28-4D27-B554-B63A0189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F1ECE0-6F3A-4695-A316-17963CF1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52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16q subspace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F0E513-189E-4F11-94A5-38A3889D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52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643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Guide where solved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3F311A-BCFA-4135-A80F-D0767401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52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C74803-A07E-4516-8AAC-C81D0087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9580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A0FEEA-0853-4086-B6BC-20585F6D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Stretch scaling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B5E623-1A8A-461A-BBBD-CFDA877C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1k–300k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E67658-C7D4-482F-A963-C5431720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A95BC7-88A8-405E-A3C8-AFBB8FF6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16q Aer GPU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56A5BE-0F8E-4ED9-96D5-1830B78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75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Fallback above 20k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BA71D2-E8EB-42EF-8D4B-03EBBA4D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DE936F-F1E2-4150-B62C-7C3779F4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IBM campaign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1CE343-65B9-4292-933F-1AC9F1AA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91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8–28q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4DEC02-98C3-4C08-B206-FDC5C401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91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 obs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FFD288-1369-4F06-AD55-E16C1E07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ibm_kingston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6F4296-9986-49BE-8268-D07D2A2E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91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Hardware only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B58D2E-4B8A-47D1-8819-D8E8E7A6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91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5EDC97-6B3B-4CCF-8BAC-3A0ACD6D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Synthetic / anonymized data · seeds + environments preserved · archive SHA-256 fingerprints recorded</a:t>
            </a:r>
          </a:p>
        </p:txBody>
      </p:sp>
    </p:spTree>
    <p:extLst>
      <p:ext uri="{BB962C8B-B14F-4D97-AF65-F5344CB8AC3E}">
        <p14:creationId xmlns:p14="http://schemas.microsoft.com/office/powerpoint/2010/main" val="20263169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78BC4-CF90-4259-91E1-FCCA5626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ECBE3-5C26-49E7-94D7-F05A4D8D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Appendix · In-sample optimum ≠ every held-out 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7FE87-5694-464E-9C55-E02741A3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72C07-55FE-44A5-8BEE-EFADA313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85875"/>
            <a:ext cx="8096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40226ade4426a"/>
          <a:stretch xmlns:a="http://schemas.openxmlformats.org/drawingml/2006/main"/>
        </p:blipFill>
        <p:spPr>
          <a:xfrm xmlns:a="http://schemas.openxmlformats.org/drawingml/2006/main">
            <a:off x="333375" y="1994565"/>
            <a:ext cx="8096250" cy="334512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2FD6E-9B5B-4E47-AFF0-F00B092B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24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30 synthetic paths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1AF96-C791-4224-87B7-228EA8B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86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LNS / XY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9CE99-B5AE-4480-AEAF-D0742161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8605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Median wealth 1.7909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Volatility 8.22%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Return / vol 0.7316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Max drawdown 13.53%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CVaR 4.23%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3C480-AB69-4AAB-96FD-E1125057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67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Gurobi global optimum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958A6-96E6-49A4-9041-4234BF94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95875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Best modeled objective, but not every held-out statistic</a:t>
            </a:r>
          </a:p>
        </p:txBody>
      </p:sp>
    </p:spTree>
    <p:extLst>
      <p:ext uri="{BB962C8B-B14F-4D97-AF65-F5344CB8AC3E}">
        <p14:creationId xmlns:p14="http://schemas.microsoft.com/office/powerpoint/2010/main" val="15859713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EA047-7A76-4631-B950-E44A62F5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552D6-877D-41C8-89B0-118D1E2C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Appendix · Matched budgets make comparisons fair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B3DBA-FC01-4C70-AC0F-A3CEFA3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BABAD-EAB4-4D18-AEAB-2F6EF639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38250"/>
            <a:ext cx="876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d2731260f4d3e"/>
          <a:stretch xmlns:a="http://schemas.openxmlformats.org/drawingml/2006/main"/>
        </p:blipFill>
        <p:spPr>
          <a:xfrm xmlns:a="http://schemas.openxmlformats.org/drawingml/2006/main">
            <a:off x="1131134" y="1238250"/>
            <a:ext cx="7167481" cy="4953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AE126-A05B-4E57-AE07-39A92526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69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comparison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CD6C1-3EC7-4C53-AC80-B965F664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09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• same frozen window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• matched allocation budget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• identical oracle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• identical validator</a:t>
            </a:r>
          </a:p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• strict wins separated from 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B1FB5-C187-4FD9-B741-A3FE741B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24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4473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4473D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75A77-CE07-48F2-B4DE-C7900EAC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62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Random / classical proposals usually match or beat the QPU at larger widths.</a:t>
            </a:r>
          </a:p>
        </p:txBody>
      </p:sp>
    </p:spTree>
    <p:extLst>
      <p:ext uri="{BB962C8B-B14F-4D97-AF65-F5344CB8AC3E}">
        <p14:creationId xmlns:p14="http://schemas.microsoft.com/office/powerpoint/2010/main" val="19356538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FC8C7-6818-453B-A7E0-8CBCC01E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05CB6-3DA6-4EF2-ABD7-78F42F8E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Appendix · Four labels prevent overclaiming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EB0C1-B750-438F-8FCB-56B5B5FF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94635-F232-4C32-9136-2EBF98D3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66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7BAD5-665F-42B0-8029-FD4F6230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7A75"/>
                </a:solidFill>
                <a:latin typeface="Arial"/>
                <a:ea typeface="Arial"/>
                <a:cs typeface="Arial"/>
              </a:rPr>
              <a:t>CERTIFIED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6F413-8DA6-476D-AF29-D99D5264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240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Enumeration or a mixed-integer incumbent and bound match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5703D-17E8-44BB-9C97-EFC01A7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Tiny, 100-asset, 60-asset gauntlet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FF76E-A878-4E1B-9978-209F5C74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66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07955-FD53-4257-B062-465DF659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BOUNDED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0EC47-D761-499F-A634-742FA478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146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 sparse portfolio compared with a solved continuous lower bound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CF69E-761D-4239-92D2-DA9CF747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Full-hybrid rows with solved guide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78369-10BF-4061-A9E1-70589EF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66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F47CF-69DB-4CB7-99AB-322B91BA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HEURISTIC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EC869-8047-4DC5-9B2E-52AE856C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052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guardrail passes, but no global quality bound is available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C5F8B-3F9B-48F1-9E85-C9CDC863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10,000-scenario case and stretch 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94001-17AA-4F42-8E00-5277D07E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66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70792-22EA-4852-B592-FAFBDE48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4473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4473D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2CF1F-096A-4592-A59D-68FFBAC0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958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circuit and post-allocation behavior on a named QPU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03F2B-65E3-4F08-AE39-5273BD90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958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6606A"/>
                </a:solidFill>
                <a:latin typeface="Arial"/>
                <a:ea typeface="Arial"/>
                <a:cs typeface="Arial"/>
              </a:rPr>
              <a:t>IBM campaign; not an advantage 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CCB40-4E67-40E1-9622-D4730EE4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fixed-support QP can be exact on one asset set without being a global sparse certificate.</a:t>
            </a:r>
          </a:p>
        </p:txBody>
      </p:sp>
    </p:spTree>
    <p:extLst>
      <p:ext uri="{BB962C8B-B14F-4D97-AF65-F5344CB8AC3E}">
        <p14:creationId xmlns:p14="http://schemas.microsoft.com/office/powerpoint/2010/main" val="1009995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2026-08-07T06:33:14.6230000Z</dcterms:created>
  <dcterms:modified xsi:type="dcterms:W3CDTF">2026-08-07T06:33:14.6230000Z</dcterms:modified>
</coreProperties>
</file>